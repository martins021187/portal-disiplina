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asAI9HU5cv+GdZvmcRH5mQ==" hashData="eDVq4X3VzxwFQeWtiI7siUsQBCZ5FBwjmPH1HxjkRyDv+oShXjliT/V4N1Oeuf98Cynkee186TPOXZH3BIs/3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609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468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548640"/>
            <a:ext cx="2286000" cy="22860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BAZE-DADUS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6576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Objetivu no Implementasaun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65760" y="3424428"/>
            <a:ext cx="3200400" cy="45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Kapítulu 1 (1.3 – 1.4)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Objetivu Baze-Dadus – Visão Geral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Objetivu prinsipál baze-dadus maka atu permite ita atu hetan ho fasil no lalais dadus ne'ebé ita buka.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60020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Velosidade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(Speed)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57400" y="146304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02C39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160020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Efisiénsia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Espasu (Space)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94760" y="146304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F4A261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94760" y="160020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(Accuracy)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32120" y="146304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0D6EFD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32120" y="160020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(Availability)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69480" y="146304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6F42C1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69480" y="160020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Kompletu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(Completeness)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188720" y="310896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DC35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88720" y="324612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Seguransa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(Security)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26080" y="310896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198754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0" y="324612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 Fahe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(Sharability)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Objetivu 01 – Velosidade (Speed)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839588"/>
            <a:ext cx="446115" cy="4461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229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Saida maka Velosidade iha Baze-Dadus?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Baze-dadus permite ita atu rai no hatudu dadus ho lalais no fasil liu duké metodu seluk.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089660"/>
              </p:ext>
            </p:extLst>
          </p:nvPr>
        </p:nvGraphicFramePr>
        <p:xfrm>
          <a:off x="457200" y="2011680"/>
          <a:ext cx="8229600" cy="1828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Limitasaun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</a:t>
                      </a:r>
                      <a:r>
                        <a:rPr lang="en-US" sz="13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Benefísiu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(papel)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Neineik, 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difisil atu buka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 / Dok. Testu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Limitadu, la suporta query kompleksu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Baze-Dadus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Lalais, query avansadu, efisiente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200" dirty="0"/>
              <a:t>Query SQL :  </a:t>
            </a:r>
            <a:r>
              <a:rPr lang="en-US" sz="1200" dirty="0" err="1"/>
              <a:t>bele</a:t>
            </a:r>
            <a:r>
              <a:rPr lang="en-US" sz="1200" dirty="0"/>
              <a:t> </a:t>
            </a:r>
            <a:r>
              <a:rPr lang="en-US" sz="1200" dirty="0" err="1"/>
              <a:t>buka</a:t>
            </a:r>
            <a:r>
              <a:rPr lang="en-US" sz="1200" dirty="0"/>
              <a:t> no proses </a:t>
            </a:r>
            <a:r>
              <a:rPr lang="en-US" sz="1200" dirty="0" err="1"/>
              <a:t>rekord</a:t>
            </a:r>
            <a:r>
              <a:rPr lang="en-US" sz="1200" dirty="0"/>
              <a:t> </a:t>
            </a:r>
            <a:r>
              <a:rPr lang="en-US" sz="1200" dirty="0" err="1"/>
              <a:t>rihun</a:t>
            </a:r>
            <a:r>
              <a:rPr lang="en-US" sz="1200" dirty="0"/>
              <a:t> iha </a:t>
            </a:r>
            <a:r>
              <a:rPr lang="en-US" sz="1200" dirty="0" err="1"/>
              <a:t>tempu</a:t>
            </a:r>
            <a:r>
              <a:rPr lang="en-US" sz="1200" dirty="0"/>
              <a:t> </a:t>
            </a:r>
            <a:r>
              <a:rPr lang="en-US" sz="1200" dirty="0" err="1"/>
              <a:t>badak</a:t>
            </a:r>
            <a:r>
              <a:rPr lang="en-US" sz="1200" dirty="0"/>
              <a:t> (</a:t>
            </a:r>
            <a:r>
              <a:rPr lang="en-US" sz="1200" dirty="0" err="1"/>
              <a:t>milisegundu</a:t>
            </a:r>
            <a:r>
              <a:rPr lang="en-US" sz="1200" dirty="0"/>
              <a:t> </a:t>
            </a:r>
            <a:r>
              <a:rPr lang="en-US" sz="1200" dirty="0" err="1"/>
              <a:t>de’it</a:t>
            </a:r>
            <a:r>
              <a:rPr lang="en-US" sz="1200" dirty="0"/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07B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Objetivu 02 – Efisiénsia Espasu (Space)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822960"/>
            <a:ext cx="3931920" cy="3474720"/>
          </a:xfrm>
          <a:prstGeom prst="rect">
            <a:avLst/>
          </a:prstGeom>
          <a:solidFill>
            <a:srgbClr val="FFE5C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Problema: Redundansia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250" dirty="0" err="1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</a:t>
            </a: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ne'ebé hanesan repete iha tabela/arquivo barak
</a:t>
            </a:r>
            <a:r>
              <a:rPr lang="en-US" sz="1250" dirty="0" err="1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</a:t>
            </a: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espasu armazenamentu (memória prinsipál &amp; sekundária)
</a:t>
            </a:r>
            <a:r>
              <a:rPr lang="en-US" sz="1250" dirty="0" err="1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Inkonsisténsia</a:t>
            </a: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bainhira dadus atualiza iha fatin ida maibé la iha fatin seluk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54880" y="822960"/>
            <a:ext cx="4023360" cy="3474720"/>
          </a:xfrm>
          <a:prstGeom prst="rect">
            <a:avLst/>
          </a:prstGeom>
          <a:solidFill>
            <a:srgbClr val="E8F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Solusaun: Baze-Dadus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892040" y="14630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250" dirty="0" err="1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</a:t>
            </a: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kodifikasaun (coding) atu reprezenta </a:t>
            </a:r>
            <a:r>
              <a:rPr lang="en-US" sz="1250" dirty="0" err="1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</a:t>
            </a: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efisiente</a:t>
            </a:r>
            <a:endParaRPr lang="en-US" sz="1250" dirty="0">
              <a:solidFill>
                <a:srgbClr val="1A2E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Kria relasaun (tabela) entre grupu dadus </a:t>
            </a:r>
            <a:r>
              <a:rPr lang="en-US" sz="1250" dirty="0" err="1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ne'ebé</a:t>
            </a: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interligadu</a:t>
            </a:r>
            <a:endParaRPr lang="en-US" sz="1250" dirty="0">
              <a:solidFill>
                <a:srgbClr val="1A2E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50" dirty="0" err="1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Hamenus</a:t>
            </a: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kuantidade redundansia → poupa espasu armazenamentu barak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Prinsípiu: Rai dadus ida de'it iha fatin ida, uza referénsia (foreign key) iha fatin seluk.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786" y="721822"/>
            <a:ext cx="842356" cy="8423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Objetivu 03 – Akurasi (Accuracy)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298" y="832104"/>
            <a:ext cx="591590" cy="5915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686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Baze-dadus aplika mekanizmu atu asegura dadus ne'ebé rai maka loos no válidu.</a:t>
            </a:r>
            <a:endParaRPr lang="en-US" sz="1300" b="1" dirty="0"/>
          </a:p>
        </p:txBody>
      </p:sp>
      <p:sp>
        <p:nvSpPr>
          <p:cNvPr id="6" name="Shape 3"/>
          <p:cNvSpPr/>
          <p:nvPr/>
        </p:nvSpPr>
        <p:spPr>
          <a:xfrm>
            <a:off x="365760" y="1508760"/>
            <a:ext cx="4023360" cy="1143000"/>
          </a:xfrm>
          <a:prstGeom prst="rect">
            <a:avLst/>
          </a:prstGeom>
          <a:solidFill>
            <a:srgbClr val="FFF6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508760"/>
            <a:ext cx="109728" cy="11430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5819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Tipu Dadus (Data Type)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194767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/>
              <a:t>Kontrolu</a:t>
            </a:r>
            <a:r>
              <a:rPr lang="en-US" sz="1200" dirty="0"/>
              <a:t> </a:t>
            </a:r>
            <a:r>
              <a:rPr lang="en-US" sz="1200" dirty="0" err="1"/>
              <a:t>dadus</a:t>
            </a:r>
            <a:r>
              <a:rPr lang="en-US" sz="1200" dirty="0"/>
              <a:t> </a:t>
            </a:r>
            <a:r>
              <a:rPr lang="en-US" sz="1200" dirty="0" err="1"/>
              <a:t>importante</a:t>
            </a:r>
            <a:r>
              <a:rPr lang="en-US" sz="1200" dirty="0"/>
              <a:t> </a:t>
            </a:r>
            <a:r>
              <a:rPr lang="en-US" sz="1200" dirty="0" err="1"/>
              <a:t>atu</a:t>
            </a:r>
            <a:r>
              <a:rPr lang="en-US" sz="1200" dirty="0"/>
              <a:t> </a:t>
            </a:r>
            <a:r>
              <a:rPr lang="en-US" sz="1200" dirty="0" err="1"/>
              <a:t>evita</a:t>
            </a:r>
            <a:r>
              <a:rPr lang="en-US" sz="1200" dirty="0"/>
              <a:t> </a:t>
            </a:r>
            <a:r>
              <a:rPr lang="en-US" sz="1200" dirty="0" err="1"/>
              <a:t>erru</a:t>
            </a:r>
            <a:r>
              <a:rPr lang="en-US" sz="1200" dirty="0"/>
              <a:t> no </a:t>
            </a:r>
            <a:r>
              <a:rPr lang="en-US" sz="1200" dirty="0" err="1"/>
              <a:t>asegura</a:t>
            </a:r>
            <a:r>
              <a:rPr lang="en-US" sz="1200" dirty="0"/>
              <a:t> </a:t>
            </a:r>
            <a:r>
              <a:rPr lang="en-US" sz="1200" dirty="0" err="1"/>
              <a:t>tipu</a:t>
            </a:r>
            <a:r>
              <a:rPr lang="en-US" sz="1200" dirty="0"/>
              <a:t> </a:t>
            </a:r>
            <a:r>
              <a:rPr lang="en-US" sz="1200" dirty="0" err="1"/>
              <a:t>dadus</a:t>
            </a:r>
            <a:r>
              <a:rPr lang="en-US" sz="1200" dirty="0"/>
              <a:t> loos iha </a:t>
            </a:r>
            <a:r>
              <a:rPr lang="en-US" sz="1200" dirty="0" err="1"/>
              <a:t>kada</a:t>
            </a:r>
            <a:r>
              <a:rPr lang="en-US" sz="1200" dirty="0"/>
              <a:t> </a:t>
            </a:r>
            <a:r>
              <a:rPr lang="en-US" sz="1200" b="1" i="1" dirty="0"/>
              <a:t>Field</a:t>
            </a:r>
            <a:r>
              <a:rPr lang="en-US" sz="1200" b="1" dirty="0"/>
              <a:t>.</a:t>
            </a:r>
            <a:endParaRPr lang="en-US" sz="1150" b="1" dirty="0"/>
          </a:p>
        </p:txBody>
      </p:sp>
      <p:sp>
        <p:nvSpPr>
          <p:cNvPr id="10" name="Shape 7"/>
          <p:cNvSpPr/>
          <p:nvPr/>
        </p:nvSpPr>
        <p:spPr>
          <a:xfrm>
            <a:off x="365760" y="2880360"/>
            <a:ext cx="4023360" cy="1143000"/>
          </a:xfrm>
          <a:prstGeom prst="rect">
            <a:avLst/>
          </a:prstGeom>
          <a:solidFill>
            <a:srgbClr val="FFF6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880360"/>
            <a:ext cx="109728" cy="1143000"/>
          </a:xfrm>
          <a:prstGeom prst="rect">
            <a:avLst/>
          </a:prstGeom>
          <a:solidFill>
            <a:srgbClr val="E07B30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2953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Dadus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" y="331927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Restrinje valór ne'ebé bele rai (ezemplu: nota 0-100, jéneru 'M'/'F'). Garante dadus iha intervalu válidu.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54880" y="1508760"/>
            <a:ext cx="4023360" cy="1143000"/>
          </a:xfrm>
          <a:prstGeom prst="rect">
            <a:avLst/>
          </a:prstGeom>
          <a:solidFill>
            <a:srgbClr val="FFF6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508760"/>
            <a:ext cx="109728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4956048" y="15819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Uniku (Unique Constraint)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56048" y="194767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 dadus espesífiku (ezemplu: NI, email) la repete. Evita entidade duplikadu iha sistema.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754880" y="2880360"/>
            <a:ext cx="4023360" cy="1143000"/>
          </a:xfrm>
          <a:prstGeom prst="rect">
            <a:avLst/>
          </a:prstGeom>
          <a:solidFill>
            <a:srgbClr val="FFF6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880360"/>
            <a:ext cx="109728" cy="1143000"/>
          </a:xfrm>
          <a:prstGeom prst="rect">
            <a:avLst/>
          </a:prstGeom>
          <a:solidFill>
            <a:srgbClr val="784212"/>
          </a:solidFill>
          <a:ln/>
        </p:spPr>
      </p:sp>
      <p:sp>
        <p:nvSpPr>
          <p:cNvPr id="20" name="Text 17"/>
          <p:cNvSpPr/>
          <p:nvPr/>
        </p:nvSpPr>
        <p:spPr>
          <a:xfrm>
            <a:off x="4956048" y="2953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Kodifikasaun (Coding)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56048" y="331927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 kódigu badak atu reprezenta valór (ezemplu: 1=Mane, 2=Feto). Reduz erro entrada dadus.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Konkluzaun: Kombinasaun constraint sira ne'e hamenus imprecizaun (inaccuracy) iha armazenamentu dadus.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Objetivu 04 – Disponibilidade (Availability)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685800"/>
            <a:ext cx="77724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686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 presiza disponível iha momentu ne'ebé presiza, iha fatin ne'ebé presiza.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" y="150876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508760"/>
            <a:ext cx="2011680" cy="914400"/>
          </a:xfrm>
          <a:prstGeom prst="rect">
            <a:avLst/>
          </a:prstGeom>
          <a:solidFill>
            <a:srgbClr val="0D6EF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600200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 Master/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Referénsia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11480" y="3108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 báziku ne'ebé la muda dala barak (ezemplu: dadus kliente, produtu)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514600" y="150876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14600" y="1508760"/>
            <a:ext cx="2011680" cy="9144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160020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06040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Tranzasaun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606040" y="3108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Rekord operasaun loron-loron (vendas, pagamentu, transferénsia)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150876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709160" y="1508760"/>
            <a:ext cx="2011680" cy="914400"/>
          </a:xfrm>
          <a:prstGeom prst="rect">
            <a:avLst/>
          </a:prstGeom>
          <a:solidFill>
            <a:srgbClr val="6F42C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600200"/>
            <a:ext cx="731520" cy="7315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0600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Istóriku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800600" y="3108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Rekordu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ne’ebé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beibeik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arkiva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media offline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hodi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espasu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armazenamentu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903720" y="150876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03720" y="1508760"/>
            <a:ext cx="2011680" cy="914400"/>
          </a:xfrm>
          <a:prstGeom prst="rect">
            <a:avLst/>
          </a:prstGeom>
          <a:solidFill>
            <a:srgbClr val="DC3545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1600200"/>
            <a:ext cx="731520" cy="7315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Kaduka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995160" y="3108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 ne'ebé la uza ona. Bele hamoos ka muda ba armazenamentu offline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200" i="1" dirty="0" err="1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Liuhosi</a:t>
            </a:r>
            <a:r>
              <a:rPr lang="en-US" sz="1200" i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rede, dadus iha </a:t>
            </a:r>
            <a:r>
              <a:rPr lang="en-US" sz="1200" i="1" dirty="0" err="1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fatin</a:t>
            </a:r>
            <a:r>
              <a:rPr lang="en-US" sz="1200" i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ida bele asesu </a:t>
            </a:r>
            <a:r>
              <a:rPr lang="en-US" sz="1200" i="1" dirty="0" err="1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hosi</a:t>
            </a:r>
            <a:r>
              <a:rPr lang="en-US" sz="1200" i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fatin</a:t>
            </a:r>
            <a:r>
              <a:rPr lang="en-US" sz="1200" i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seluk</a:t>
            </a:r>
            <a:r>
              <a:rPr lang="en-US" sz="1200" i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iha fatin jeográfiku oioin.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Objetivu 05 – Kompletu (Completeness)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60" y="685800"/>
            <a:ext cx="864524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686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Kompletude dadus ne'ebé ita jere iha baze-dadus maka relativu — tuir nesesidade utilizadór no mudansa tempu.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508760"/>
            <a:ext cx="3931920" cy="3246120"/>
          </a:xfrm>
          <a:prstGeom prst="rect">
            <a:avLst/>
          </a:prstGeom>
          <a:solidFill>
            <a:srgbClr val="F5F0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Baze-dadus rai: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0574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Dadus (rekord/baris)
• Estrutura (definisaun objetu)
• Definisaun detallu kada objetu
• Estrutura arkivu/tabela
• Indeks (ba velosidade query)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508760"/>
            <a:ext cx="4023360" cy="3246120"/>
          </a:xfrm>
          <a:prstGeom prst="rect">
            <a:avLst/>
          </a:prstGeom>
          <a:solidFill>
            <a:srgbClr val="EDE7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 hasa'e kompletude: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92040" y="20574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Aumenta rejistu/rekord dadus foun
• Aumenta koluna (atributo) foun iha tabela
• Aumenta tabela/objetu foun iha baze-dadus
• Modifika estrutura ne'ebé iha tiha ona (ALTER TABLE)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Objetivu 06 – Seguransa (Security)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680" y="777240"/>
            <a:ext cx="579120" cy="57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686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Baze-dadus boot no kompleksu bele implementa medida seguransa ho rigorozu.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50876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508760"/>
            <a:ext cx="2651760" cy="1005840"/>
          </a:xfrm>
          <a:prstGeom prst="rect">
            <a:avLst/>
          </a:prstGeom>
          <a:solidFill>
            <a:srgbClr val="DC354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1600200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606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Autentikasaun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Utilizadór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sé (utilizadór) ne'ebé bele asesu baze-dadus. Liuhosi username, password, ka token.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246120" y="150876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46120" y="1508760"/>
            <a:ext cx="2651760" cy="100584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160020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37560" y="2606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Autorizasaun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Asesu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383280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objetu saida maka bele asesu hosi utilizadór ida. Tabela, view, stored procedure, etc.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26480" y="150876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26480" y="1508760"/>
            <a:ext cx="2651760" cy="1005840"/>
          </a:xfrm>
          <a:prstGeom prst="rect">
            <a:avLst/>
          </a:prstGeom>
          <a:solidFill>
            <a:srgbClr val="922B2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600200"/>
            <a:ext cx="731520" cy="7315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17920" y="2606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Operasaun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263640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tipu operasaun ne'ebé bele hala'o: SELECT, INSERT, UPDATE, DELETE.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Sistema baze-dadus balu la implementa seguransa, maibé ba sistema boot, seguransa esensiál tebes.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87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Objetivu 07 – Uzu Fahe (Sharability)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611" y="7315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686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 baze-dadus la limita ba utilizadór ida, fatin ida, ka sistema ida de'it.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74720" y="19202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98754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0" y="19202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Baze-Dadus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Funsionáriu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28016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2801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Utilizadór Barak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286000" y="1623060"/>
            <a:ext cx="14630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274320" y="27432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0D6EFD">
              <a:alpha val="8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27432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Departamentu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Oioin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286000" y="3086100"/>
            <a:ext cx="1463040" cy="0"/>
          </a:xfrm>
          <a:prstGeom prst="line">
            <a:avLst/>
          </a:prstGeom>
          <a:noFill/>
          <a:ln w="19050">
            <a:solidFill>
              <a:srgbClr val="0D6EFD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6766560" y="128016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6F42C1">
              <a:alpha val="8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0" y="12801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Sist. Pagamentu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0" y="1623060"/>
            <a:ext cx="1097280" cy="0"/>
          </a:xfrm>
          <a:prstGeom prst="line">
            <a:avLst/>
          </a:prstGeom>
          <a:noFill/>
          <a:ln w="19050">
            <a:solidFill>
              <a:srgbClr val="6F42C1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766560" y="21488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4A261">
              <a:alpha val="8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2148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Sist. Kontabilidade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669280" y="2491740"/>
            <a:ext cx="109728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6766560" y="301752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DC3545">
              <a:alpha val="8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766560" y="3017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Sist. Inventáriu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0" y="3360420"/>
            <a:ext cx="1097280" cy="0"/>
          </a:xfrm>
          <a:prstGeom prst="line">
            <a:avLst/>
          </a:prstGeom>
          <a:noFill/>
          <a:ln w="19050">
            <a:solidFill>
              <a:srgbClr val="DC3545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365760" y="3749040"/>
            <a:ext cx="8412480" cy="1097280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3794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Dezafiu: Sistema multi-uzuáriu tenke: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Evita inkonsisténsia dadus (mudansa simultánea husi utilizadór barak)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Evita kondisaun deadlock (utilizadór barak hein malu atu uza rekursu hanesan)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Implementasaun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Baze-Dadus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14400" y="3337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Kuaze aspetu hotu kona-ba utilizasaun komputadór iha organizasaun/empreza sempre iha relasaun ho baze-dadus.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4251960"/>
            <a:ext cx="2743200" cy="45720"/>
          </a:xfrm>
          <a:prstGeom prst="rect">
            <a:avLst/>
          </a:prstGeom>
          <a:solidFill>
            <a:srgbClr val="F4A261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Funsionál ne'ebé Uza Baze-Dadus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6002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1600200" cy="10515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96012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Pesoál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3192" y="2377440"/>
            <a:ext cx="145389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empreza ho funsionáriu barak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084832" y="822960"/>
            <a:ext cx="16002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84832" y="822960"/>
            <a:ext cx="1600200" cy="1051560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96012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30552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Armazenamentu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157984" y="2377440"/>
            <a:ext cx="145389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Manufatura, grosista, farmásia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849624" y="822960"/>
            <a:ext cx="16002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849624" y="822960"/>
            <a:ext cx="1600200" cy="1051560"/>
          </a:xfrm>
          <a:prstGeom prst="rect">
            <a:avLst/>
          </a:prstGeom>
          <a:solidFill>
            <a:srgbClr val="6F42C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960120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95344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Kontabilidade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922776" y="2377440"/>
            <a:ext cx="145389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empreza oioin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14416" y="822960"/>
            <a:ext cx="16002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614416" y="822960"/>
            <a:ext cx="1600200" cy="1051560"/>
          </a:xfrm>
          <a:prstGeom prst="rect">
            <a:avLst/>
          </a:prstGeom>
          <a:solidFill>
            <a:srgbClr val="0D6EF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960120"/>
            <a:ext cx="685800" cy="6858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0136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Rezervasaun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87568" y="2377440"/>
            <a:ext cx="145389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Otél, aviaun, komboiu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379208" y="822960"/>
            <a:ext cx="16002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79208" y="822960"/>
            <a:ext cx="1600200" cy="1051560"/>
          </a:xfrm>
          <a:prstGeom prst="rect">
            <a:avLst/>
          </a:prstGeom>
          <a:solidFill>
            <a:srgbClr val="198754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6408" y="960120"/>
            <a:ext cx="685800" cy="6858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24928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Atendimentu Kliente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452360" y="2377440"/>
            <a:ext cx="145389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Banku, konsultór, nst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ne'ebé Uza Baze-Dadus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06040" cy="173736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109728" cy="173736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143000"/>
            <a:ext cx="731520" cy="731520"/>
          </a:xfrm>
          <a:prstGeom prst="ellipse">
            <a:avLst/>
          </a:prstGeom>
          <a:solidFill>
            <a:srgbClr val="0D6EF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16152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1005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Bankaria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89888" y="146304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 kliente, poupansa, empréstimu, kontabilidade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822960"/>
            <a:ext cx="2606040" cy="173736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822960"/>
            <a:ext cx="109728" cy="1737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2" name="Shape 9"/>
          <p:cNvSpPr/>
          <p:nvPr/>
        </p:nvSpPr>
        <p:spPr>
          <a:xfrm>
            <a:off x="3447288" y="1143000"/>
            <a:ext cx="731520" cy="73152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216152"/>
            <a:ext cx="585216" cy="585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70248" y="1005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Asuransi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270248" y="146304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 kliente, pagamentu prémiu, reklamasaun seguru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822960"/>
            <a:ext cx="2606040" cy="173736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822960"/>
            <a:ext cx="109728" cy="1737360"/>
          </a:xfrm>
          <a:prstGeom prst="rect">
            <a:avLst/>
          </a:prstGeom>
          <a:solidFill>
            <a:srgbClr val="198754"/>
          </a:solidFill>
          <a:ln/>
        </p:spPr>
      </p:sp>
      <p:sp>
        <p:nvSpPr>
          <p:cNvPr id="18" name="Shape 14"/>
          <p:cNvSpPr/>
          <p:nvPr/>
        </p:nvSpPr>
        <p:spPr>
          <a:xfrm>
            <a:off x="6327648" y="1143000"/>
            <a:ext cx="731520" cy="731520"/>
          </a:xfrm>
          <a:prstGeom prst="ellipse">
            <a:avLst/>
          </a:prstGeom>
          <a:solidFill>
            <a:srgbClr val="198754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216152"/>
            <a:ext cx="585216" cy="5852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50608" y="1005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Ospitál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150608" y="146304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Istória moras, tratamentu pasiente, pagamentu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65760" y="2743200"/>
            <a:ext cx="2606040" cy="173736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2743200"/>
            <a:ext cx="109728" cy="17373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Shape 19"/>
          <p:cNvSpPr/>
          <p:nvPr/>
        </p:nvSpPr>
        <p:spPr>
          <a:xfrm>
            <a:off x="566928" y="3063240"/>
            <a:ext cx="731520" cy="73152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136392"/>
            <a:ext cx="585216" cy="58521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89888" y="29260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Manufatura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389888" y="33832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Inventáriu, pedidu sasán, dadus funsionáriu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46120" y="2743200"/>
            <a:ext cx="2606040" cy="173736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46120" y="2743200"/>
            <a:ext cx="109728" cy="173736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30" name="Shape 24"/>
          <p:cNvSpPr/>
          <p:nvPr/>
        </p:nvSpPr>
        <p:spPr>
          <a:xfrm>
            <a:off x="3447288" y="3063240"/>
            <a:ext cx="731520" cy="731520"/>
          </a:xfrm>
          <a:prstGeom prst="ellipse">
            <a:avLst/>
          </a:prstGeom>
          <a:solidFill>
            <a:srgbClr val="6F42C1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136392"/>
            <a:ext cx="585216" cy="58521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270248" y="29260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Edukasaun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270248" y="33832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 estudante, atividade aprendijajen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126480" y="2743200"/>
            <a:ext cx="2606040" cy="173736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26480" y="2743200"/>
            <a:ext cx="109728" cy="1737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Shape 29"/>
          <p:cNvSpPr/>
          <p:nvPr/>
        </p:nvSpPr>
        <p:spPr>
          <a:xfrm>
            <a:off x="6327648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136392"/>
            <a:ext cx="585216" cy="58521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50608" y="29260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Telekomunikasaun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7150608" y="33832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Administrasaun kabel, dadus kliente, perturbasaun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Detallu Setor: Bankaria &amp; Asuransi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931920"/>
          </a:xfrm>
          <a:prstGeom prst="rect">
            <a:avLst/>
          </a:prstGeom>
          <a:solidFill>
            <a:srgbClr val="EBF3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601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960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Bankaria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Jestaun dadus kliente
• Jestaun dadus poupansa
• Jestaun dadus empréstimu
• Kria relatóriu kontabilidade
• Fornese servisu informasaun ba kliente/kliente potensiál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822960"/>
            <a:ext cx="3931920" cy="3931920"/>
          </a:xfrm>
          <a:prstGeom prst="rect">
            <a:avLst/>
          </a:prstGeom>
          <a:solidFill>
            <a:srgbClr val="FF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96012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0" y="960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Asuransi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983480" y="16916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Jestaun dadus kliente
• Jere dadus pagamentu prémiu
• Prosesamentu submisaun reklamasaun seguru
• Avaliasaun risku (risk assessment)
• Jerasaun pólisa no relatóriu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87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Detallu Setor: Ospitál &amp; Manufatura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931920"/>
          </a:xfrm>
          <a:prstGeom prst="rect">
            <a:avLst/>
          </a:prstGeom>
          <a:solidFill>
            <a:srgbClr val="E8F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601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960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Ospitál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Jestaun istória moras pasiente
• Jestaun tratamentu pasiente
• Maneja pagamentu tratamentu
• Agendamentu konsulta no operasaun
• Jestaun stok medikamentu/farmásia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822960"/>
            <a:ext cx="3931920" cy="3931920"/>
          </a:xfrm>
          <a:prstGeom prst="rect">
            <a:avLst/>
          </a:prstGeom>
          <a:solidFill>
            <a:srgbClr val="FFF6E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96012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0" y="960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Manufatura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983480" y="16916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Jestaun dadus sasan tama no sai (inventáriu)
• Asisténsia jestaun pedidu sasán
• Jestaun dadus funsionáriu/produsaun
• Kontrolu kualidade (quality control)
• Planeamentu rekursu produsaun (ERP)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Detallu Setor: Edukasaun &amp; Telekomunikasaun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931920"/>
          </a:xfrm>
          <a:prstGeom prst="rect">
            <a:avLst/>
          </a:prstGeom>
          <a:solidFill>
            <a:srgbClr val="F5F0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601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960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Edukasaun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Jestaun dadus estudante
• Ajendamentu atividade aprendijajen
• Rekord rezultadu no avaliasaun
• Jestaun dadus mestra/profesór
• Relatóriu akademiku no sertifikasaun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822960"/>
            <a:ext cx="3931920" cy="3931920"/>
          </a:xfrm>
          <a:prstGeom prst="rect">
            <a:avLst/>
          </a:prstGeom>
          <a:solidFill>
            <a:srgbClr val="EBF8F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96012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0" y="960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Telekomunikasaun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83480" y="16916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Jestaun dadus administrasaun kabel
• Jestaun dadus kliente
• Maneja perturbasaun (trouble ticket)
• Monitorizasaun rede no kualidade sinal
• Faturasaun no kontabilidade serviçu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2C39A">
              <a:alpha val="1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657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Konkluzaun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277063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Objetivu prinsipál baze-dadus (Speed, Space, Accuracy, Availability, Completeness, Security, Sharability)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3429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17320" y="345643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organizasaun ne'ebé uza baze-dadus (Bankaria, Asuransi, Ospitál, Manufatura, Edukasaun, Telekomunikasaun)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17320" y="414223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Baze-dadus maka komponente prinsipál iha sistema informasaun hotu-hotu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00400" y="4800600"/>
            <a:ext cx="2743200" cy="45720"/>
          </a:xfrm>
          <a:prstGeom prst="rect">
            <a:avLst/>
          </a:prstGeom>
          <a:solidFill>
            <a:srgbClr val="F4A26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1130</Words>
  <Application>Microsoft Office PowerPoint</Application>
  <PresentationFormat>On-screen Show (16:9)</PresentationFormat>
  <Paragraphs>168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Baze-Dadus: Objetivu no Implementasaun</dc:title>
  <dc:subject>PptxGenJS Presentation</dc:subject>
  <dc:creator>PptxGenJS</dc:creator>
  <cp:lastModifiedBy>juser</cp:lastModifiedBy>
  <cp:revision>12</cp:revision>
  <dcterms:created xsi:type="dcterms:W3CDTF">2026-04-23T06:40:15Z</dcterms:created>
  <dcterms:modified xsi:type="dcterms:W3CDTF">2026-04-24T05:15:09Z</dcterms:modified>
</cp:coreProperties>
</file>